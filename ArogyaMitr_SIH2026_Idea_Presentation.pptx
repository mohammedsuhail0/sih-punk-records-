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780" y="6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6/26/2025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6/26/2025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6/26/2025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2025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>
              <a:spcAft>
                <a:spcPts val="400"/>
              </a:spcAft>
            </a:pPr>
            <a:r>
              <a:rPr b="1" sz="1300">
                <a:solidFill>
                  <a:srgbClr val="0284C7"/>
                </a:solidFill>
              </a:rPr>
              <a:t>Problem Statement ID: </a:t>
            </a:r>
            <a:r>
              <a:rPr b="1" sz="1300">
                <a:solidFill>
                  <a:srgbClr val="1E293B"/>
                </a:solidFill>
              </a:rPr>
              <a:t>26133</a:t>
            </a:r>
          </a:p>
          <a:p>
            <a:pPr>
              <a:spcAft>
                <a:spcPts val="400"/>
              </a:spcAft>
            </a:pPr>
            <a:r>
              <a:rPr b="1" sz="1050">
                <a:solidFill>
                  <a:srgbClr val="0284C7"/>
                </a:solidFill>
              </a:rPr>
              <a:t>Problem Statement Title: </a:t>
            </a:r>
            <a:r>
              <a:rPr b="0" sz="1050">
                <a:solidFill>
                  <a:srgbClr val="1E293B"/>
                </a:solidFill>
              </a:rPr>
              <a:t>Accessibility and quality of public healthcare services, particularly in rural and underserved areas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Organization: </a:t>
            </a:r>
            <a:r>
              <a:rPr b="1" sz="1100">
                <a:solidFill>
                  <a:srgbClr val="1E293B"/>
                </a:solidFill>
              </a:rPr>
              <a:t>Government of Maharashtra (MSInS)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Theme: </a:t>
            </a:r>
            <a:r>
              <a:rPr b="1" sz="1100">
                <a:solidFill>
                  <a:srgbClr val="1E293B"/>
                </a:solidFill>
              </a:rPr>
              <a:t>MedTech / BioTech / HealthTech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Category: </a:t>
            </a:r>
            <a:r>
              <a:rPr b="1" sz="1100">
                <a:solidFill>
                  <a:srgbClr val="1E293B"/>
                </a:solidFill>
              </a:rPr>
              <a:t>Software Edition</a:t>
            </a:r>
          </a:p>
          <a:p>
            <a:pPr>
              <a:spcAft>
                <a:spcPts val="400"/>
              </a:spcAft>
            </a:pPr>
            <a:r>
              <a:rPr b="1" sz="1200">
                <a:solidFill>
                  <a:srgbClr val="0284C7"/>
                </a:solidFill>
              </a:rPr>
              <a:t>Team Name: </a:t>
            </a:r>
            <a:r>
              <a:rPr b="1" sz="1200">
                <a:solidFill>
                  <a:srgbClr val="16A34A"/>
                </a:solidFill>
              </a:rPr>
              <a:t>ArogyaMitr</a:t>
            </a:r>
          </a:p>
          <a:p>
            <a:pPr>
              <a:spcAft>
                <a:spcPts val="400"/>
              </a:spcAft>
            </a:pPr>
            <a:r>
              <a:rPr b="1" sz="1100">
                <a:solidFill>
                  <a:srgbClr val="0284C7"/>
                </a:solidFill>
              </a:rPr>
              <a:t>Idea Title: </a:t>
            </a:r>
            <a:r>
              <a:rPr b="1" sz="1100">
                <a:solidFill>
                  <a:srgbClr val="0F172A"/>
                </a:solidFill>
              </a:rPr>
              <a:t>ArogyaMitr: Dual-Outlet Rural Healthcare Infrastructure &amp; Voice-Guided Tele-Care Platform</a:t>
            </a: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000" b="1">
                <a:solidFill>
                  <a:srgbClr val="0F172A"/>
                </a:solidFill>
              </a:defRPr>
            </a:pPr>
            <a:r>
              <a:t>PROPOSED SOLUTION: ArogyaMitr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100">
                <a:solidFill>
                  <a:srgbClr val="0284C7"/>
                </a:solidFill>
              </a:rPr>
              <a:t>1. Decentralized Physical Dual-Outlet Model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Outlet 1 (Gram Care Point - Inside Village): Gram Panchayat-based intake kiosk for daily patient queries, preliminary triage, basic vitals (BP/SpO2), and assisted digital check-ins by local health volunteers.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Outlet 2 (Diagnostic &amp; Supply Hub - Outskirts Junction): Strategic arterial hub serving 3–5 villages (5–7 km radius), operating as a quick-commerce healthcare dark store stocking cold-chain medicines and processing rapid lab tests.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100">
                <a:solidFill>
                  <a:srgbClr val="0284C7"/>
                </a:solidFill>
              </a:rPr>
              <a:t>2. Universal Voice-First &amp; Illiterate-Friendly WebApp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100% Pictorial &amp; Color-Coded UX: High-contrast visual icons (Heart, Pregnancy, Child, Fever, Emergency) eliminating reading/writing barriers.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Regional Voice AI (Marathi/Hindi/Gondi): Natural spoken language intake with zero typing required.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1-on-1 Guided Agent Support: Live human video/audio assistance guiding elderly/anxious villagers step-by-step.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Direct 1-Touch 108 Emergency SOS: Instantly broadcasts patient GPS coordinates to nearby ambulances and staging hubs.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100">
                <a:solidFill>
                  <a:srgbClr val="0284C7"/>
                </a:solidFill>
              </a:rPr>
              <a:t>3. Instant Tele-Prescription to Medicine Dispensing Pipeline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Doctor tele-consultations auto-route digital prescriptions directly to the Outskirts Hub for rapid packing, eliminating 40–80 km city travel.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ArogyaMitr</a:t>
            </a:r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000" b="1">
                <a:solidFill>
                  <a:srgbClr val="0F172A"/>
                </a:solidFill>
              </a:defRPr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100">
                <a:solidFill>
                  <a:srgbClr val="0284C7"/>
                </a:solidFill>
              </a:rPr>
              <a:t>1. Frontend Client &amp; Assistive Voice Engine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Cross-Platform PWA: React / Flutter PWA running on low-cost tablets and smartphones.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Voice AI Integration: Bhashini Speech-to-Text &amp; Text-to-Speech APIs for real-time Marathi, Gondi, and Hindi.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Offline-First Data Layer: Embedded SQLite &amp; WatermelonDB with Conflict-Free Replicated Data Types (CRDTs) to prevent data loss in 0G/2G dead zones.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100">
                <a:solidFill>
                  <a:srgbClr val="0284C7"/>
                </a:solidFill>
              </a:rPr>
              <a:t>2. Telehealth, Media &amp; Real-Time Gateway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Low-Bandwidth WebRTC: LiveKit WebRTC engine dynamically dropping to 15 kbps adaptive Opus audio during signal drops.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Emergency SOS Broker: WebSocket-driven GPS dispatch engine connected to Maharashtra 108 Emergency network.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Backend Architecture: High-throughput FastAPI (Python) &amp; Node.js microservices with Redis queues.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100">
                <a:solidFill>
                  <a:srgbClr val="0284C7"/>
                </a:solidFill>
              </a:rPr>
              <a:t>3. National Digital Health &amp; Supply Chain Infrastructure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ABDM &amp; FHIR Compliance: Interoperable HL7 / FHIR R4 clinical JSON schemas linked with Ayushman Bharat ABHA IDs.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Inventory Ledger: Real-time PostgreSQL 16 + TimescaleDB tracking pharmaceutical stock levels and expiration alerts.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ArogyaMitr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000" b="1">
                <a:solidFill>
                  <a:srgbClr val="0F172A"/>
                </a:solidFill>
              </a:defRPr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100">
                <a:solidFill>
                  <a:srgbClr val="0284C7"/>
                </a:solidFill>
              </a:rPr>
              <a:t>1. Operational &amp; Economic Feasibility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Cost-Effective Micro-Hub Clustering: Setting up 1 Outskirts Diagnostic &amp; Supply Hub for every 3–5 villages reduces infrastructure CapEx by 70% compared to building full pharmacies in every hamlet.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Utilizes Existing Cadres: Leverages Gram Panchayat kiosks and existing ASHA / health volunteers for daily operation.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100">
                <a:solidFill>
                  <a:srgbClr val="0284C7"/>
                </a:solidFill>
              </a:rPr>
              <a:t>2. Potential Challenges &amp; Risk Mitigation Strategies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Challenge: Poor/Zero Cellular Connectivity in Tribal Valleys (Gadchiroli/Melghat)
  ➜ Mitigation: 100% Offline-First architecture; queue consultations locally and auto-sync on signal restoration.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Challenge: High Digital &amp; Language Illiteracy among Villagers
  ➜ Mitigation: Zero-typing pictorial interface + regional voice prompts + 1-on-1 human agent guidance fallback.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Challenge: Medicine Expiration &amp; Cold-Chain Failure
  ➜ Mitigation: Outskirts Hubs equipped with solar-backed refrigeration and real-time inventory telemetry to prevent stockouts.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100">
                <a:solidFill>
                  <a:srgbClr val="0284C7"/>
                </a:solidFill>
              </a:rPr>
              <a:t>3. Phased Rollout Roadmap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Phase 1 (M1-M3): Pilot 10 Villages + 2 Outskirts Hubs in Gadchiroli/Melghat | Phase 2 (M4-M8): Scale across 5 High-Priority Rural Districts | Phase 3 (M9-M12): Statewide 36-District Rollout.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ArogyaMitr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000" b="1">
                <a:solidFill>
                  <a:srgbClr val="0F172A"/>
                </a:solidFill>
              </a:defRPr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100">
                <a:solidFill>
                  <a:srgbClr val="0284C7"/>
                </a:solidFill>
              </a:rPr>
              <a:t>1. Direct Quantitative Impact on Rural Beneficiaries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70% Reduction in Diagnostic Travel: Eliminates grueling 40–80 km journeys to city centers for basic diagnostic tests and pharmaceutical pickup.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100% Inclusive for Illiterate Citizens: Spoken regional prompts and visual cues empower elderly and tribal citizens to access healthcare independently.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&lt; 15 Minute Emergency Response: Direct 1-touch SOS coordinates immediate ambulance and first-responder dispatch from the outskirts hub.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100">
                <a:solidFill>
                  <a:srgbClr val="0284C7"/>
                </a:solidFill>
              </a:rPr>
              <a:t>2. Broader Socio-Economic &amp; Public Health Benefits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Zero Lost Prescriptions &amp; Care Continuity: FHIR-compliant ABHA records ensure past test results and diagnoses travel seamlessly with the patient across facilities.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Economic Protection: Saves rural families thousands in out-of-pocket transportation and wage losses from missed work days.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Epidemic Early Warning: Aggregated diagnostic test data at cluster hubs provides automated spatial detection of malaria, dengue, and water-borne disease outbreaks.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ArogyaMitr</a:t>
            </a: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 sz="2000" b="1">
                <a:solidFill>
                  <a:srgbClr val="0F172A"/>
                </a:solidFill>
              </a:defRPr>
            </a:pP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100">
                <a:solidFill>
                  <a:srgbClr val="0284C7"/>
                </a:solidFill>
              </a:rPr>
              <a:t>1. Government Health Data &amp; Ground Reality Studies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National Family Health Survey (NFHS-5) Maharashtra: Data on rural maternal mortality, tribal access barriers in Gadchiroli/Nandurbar, and referral dropout rates.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Rural Health Statistics (RHS 2022-23), Ministry of Health &amp; Family Welfare (MoHFW): Analysis of sub-centre shortfalls and pharmaceutical supply chain bottlenecks.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National Health Mission (NHM) Maharashtra: Guidelines on ASHA assisted care models and 108 Emergency Medical Services integration.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b="1" sz="1100">
                <a:solidFill>
                  <a:srgbClr val="0284C7"/>
                </a:solidFill>
              </a:rPr>
              <a:t>2. Technical Standards &amp; Public Digital Infrastructure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Ayushman Bharat Digital Mission (ABDM): Guidelines for ABHA ID linkage, Health Information Exchange &amp; Consent Manager (HIE-CM), and HL7 / FHIR R4 schema compliance.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Bhashini (National Language Translation Mission): Technical specifications for open-source Indic speech-to-text and text-to-speech models.</a:t>
            </a:r>
          </a:p>
          <a:p>
            <a:pPr>
              <a:spcAft>
                <a:spcPts val="200"/>
              </a:spcAft>
            </a:pPr>
            <a:r>
              <a:rPr sz="950">
                <a:solidFill>
                  <a:srgbClr val="1E293B"/>
                </a:solidFill>
              </a:rPr>
              <a:t>• WHO Telemedicine &amp; Digital Health Guidelines for Low-Resource Settings: Protocols for low-bitrate clinical audio triage and community health worker ergonomics.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=""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defRPr sz="1000" b="1">
                <a:solidFill>
                  <a:srgbClr val="0284C7"/>
                </a:solidFill>
              </a:defRPr>
            </a:pPr>
            <a:r>
              <a:t>ArogyaMitr</a:t>
            </a: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7487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2025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147</cp:revision>
  <dcterms:created xsi:type="dcterms:W3CDTF">2013-12-12T18:46:50Z</dcterms:created>
  <dcterms:modified xsi:type="dcterms:W3CDTF">2025-06-26T06:39:00Z</dcterms:modified>
  <cp:category/>
</cp:coreProperties>
</file>